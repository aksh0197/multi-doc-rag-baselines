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0A3A">
              <a:alpha val="40000"/>
            </a:srgbClr>
          </a:solidFill>
          <a:ln w="12700">
            <a:solidFill>
              <a:srgbClr val="1A0A3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103601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Multi-Document</a:t>
            </a:r>
            <a:endParaRPr lang="en-US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Evaluation</a:t>
            </a:r>
            <a:endParaRPr lang="en-US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979676" y="3611880"/>
            <a:ext cx="1463040" cy="347472"/>
          </a:xfrm>
          <a:prstGeom prst="roundRect">
            <a:avLst>
              <a:gd name="adj" fmla="val 47368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5396" y="3611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71316" y="3611880"/>
            <a:ext cx="1463040" cy="347472"/>
          </a:xfrm>
          <a:prstGeom prst="roundRect">
            <a:avLst>
              <a:gd name="adj" fmla="val 47368"/>
            </a:avLst>
          </a:prstGeom>
          <a:solidFill>
            <a:srgbClr val="CE93D8">
              <a:alpha val="20000"/>
            </a:srgbClr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7036" y="3611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RankRAG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62956" y="3611880"/>
            <a:ext cx="1463040" cy="347472"/>
          </a:xfrm>
          <a:prstGeom prst="roundRect">
            <a:avLst>
              <a:gd name="adj" fmla="val 47368"/>
            </a:avLst>
          </a:prstGeom>
          <a:solidFill>
            <a:srgbClr val="69F0AE">
              <a:alpha val="20000"/>
            </a:srgbClr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08676" y="3611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Self-RAG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54596" y="3611880"/>
            <a:ext cx="1463040" cy="347472"/>
          </a:xfrm>
          <a:prstGeom prst="roundRect">
            <a:avLst>
              <a:gd name="adj" fmla="val 47368"/>
            </a:avLst>
          </a:prstGeom>
          <a:solidFill>
            <a:srgbClr val="FFAB40">
              <a:alpha val="20000"/>
            </a:srgbClr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0316" y="3611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MADAM-RAG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46236" y="3611880"/>
            <a:ext cx="1463040" cy="347472"/>
          </a:xfrm>
          <a:prstGeom prst="roundRect">
            <a:avLst>
              <a:gd name="adj" fmla="val 47368"/>
            </a:avLst>
          </a:prstGeom>
          <a:solidFill>
            <a:srgbClr val="4DD0E1">
              <a:alpha val="20000"/>
            </a:srgbClr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1956" y="3611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0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RAGChecker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benchmark pipeline grounded in 5 research papers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HotpotQA  ·  RAMDocs  ·  3 LLM Backends  ·  Faithfulness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D0D2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6126480"/>
            <a:ext cx="24377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Research Papers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8646" y="6199632"/>
            <a:ext cx="18288" cy="585216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37790" y="6126480"/>
            <a:ext cx="24377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Pipeline Steps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66437" y="6199632"/>
            <a:ext cx="18288" cy="585216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5581" y="6126480"/>
            <a:ext cx="24377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400+ Test Queries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04227" y="6199632"/>
            <a:ext cx="18288" cy="585216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3371" y="6126480"/>
            <a:ext cx="24377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LLM Backends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742018" y="6199632"/>
            <a:ext cx="18288" cy="585216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51162" y="6126480"/>
            <a:ext cx="24377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0.800 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Multi-document question answering is fundamentally harder than single-passage retrieval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1457432" cy="1051560"/>
          </a:xfrm>
          <a:prstGeom prst="roundRect">
            <a:avLst>
              <a:gd name="adj" fmla="val 8696"/>
            </a:avLst>
          </a:prstGeom>
          <a:solidFill>
            <a:srgbClr val="0A1B3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04672"/>
            <a:ext cx="54864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412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MULTI-HOP QUESTION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is the nationality of the director of Spectre?"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0A142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258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1: Spectre (film)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508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 = Sam Mendes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13441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54680" y="13258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0A142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3258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2: Sam Mendes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508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nationality = British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40680" y="13441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13258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03322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325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Answer: British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1993392"/>
            <a:ext cx="3657600" cy="2176272"/>
          </a:xfrm>
          <a:prstGeom prst="roundRect">
            <a:avLst>
              <a:gd name="adj" fmla="val 420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993392"/>
            <a:ext cx="36576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194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27432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Multi-hop Reasoning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072384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requires chaining evidence across 2+ documents — no single doc contains the full answer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61104" y="1993392"/>
            <a:ext cx="3657600" cy="2176272"/>
          </a:xfrm>
          <a:prstGeom prst="roundRect">
            <a:avLst>
              <a:gd name="adj" fmla="val 420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1104" y="1993392"/>
            <a:ext cx="365760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98264" y="2194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398264" y="27432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Misinformation in Corpus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98264" y="3072384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corpora contain adversarial documents designed to mislead — model must actively suppress them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56448" y="1993392"/>
            <a:ext cx="3657600" cy="2176272"/>
          </a:xfrm>
          <a:prstGeom prst="roundRect">
            <a:avLst>
              <a:gd name="adj" fmla="val 420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6448" y="1993392"/>
            <a:ext cx="3657600" cy="54864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3608" y="2194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293608" y="27432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 Risk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93608" y="3072384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generate plausible but unsupported text — hard to distinguish from grounded answers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315968"/>
            <a:ext cx="11457432" cy="438912"/>
          </a:xfrm>
          <a:prstGeom prst="roundRect">
            <a:avLst>
              <a:gd name="adj" fmla="val 20833"/>
            </a:avLst>
          </a:prstGeom>
          <a:solidFill>
            <a:srgbClr val="0A0A2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3525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baselines evaluate retrieval or generation — rarely both together with end-to-end failure attribution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unified end-to-end benchmark — retrieval through faithfulness, all in one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04672"/>
            <a:ext cx="36576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960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Benchmark Suite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3716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2 datasets (HotpotQA, RAMDocs)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6824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5 retrieval methods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19933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3 LLM backends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3042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400+ test queries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61104" y="804672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1104" y="804672"/>
            <a:ext cx="365760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960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Production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25696" y="13716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Retrieval → Reranking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25696" y="16824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Multi-agent debate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25696" y="19933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Rule-based + LLM generation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25696" y="23042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Faithfulness checking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56448" y="804672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804672"/>
            <a:ext cx="3657600" cy="54864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960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Failure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13716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Retrieval vs generation failures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16824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Hallucination detection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19933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Misinformation suppression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23042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Joint F1 tracking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2918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611880"/>
            <a:ext cx="5303520" cy="713232"/>
          </a:xfrm>
          <a:prstGeom prst="roundRect">
            <a:avLst>
              <a:gd name="adj" fmla="val 12821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11880"/>
            <a:ext cx="54864" cy="7132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666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HotpotQA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26080" y="3685032"/>
            <a:ext cx="2468880" cy="237744"/>
          </a:xfrm>
          <a:prstGeom prst="roundRect">
            <a:avLst>
              <a:gd name="adj" fmla="val 69231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36850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multi-hop reasoning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39593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candidate docs/query · 200 test examples · bridge-entity questions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434840"/>
            <a:ext cx="5303520" cy="713232"/>
          </a:xfrm>
          <a:prstGeom prst="roundRect">
            <a:avLst>
              <a:gd name="adj" fmla="val 12821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434840"/>
            <a:ext cx="54864" cy="713232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4897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RAMDocs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4507992"/>
            <a:ext cx="2468880" cy="237744"/>
          </a:xfrm>
          <a:prstGeom prst="roundRect">
            <a:avLst>
              <a:gd name="adj" fmla="val 69231"/>
            </a:avLst>
          </a:prstGeom>
          <a:solidFill>
            <a:srgbClr val="FFAB40">
              <a:alpha val="20000"/>
            </a:srgbClr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71800" y="45079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adversarial misinformation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47823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/ Misinfo / Noise docs · 200 test examples · ambiguous entities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32918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Tracked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3657600"/>
            <a:ext cx="947318" cy="292608"/>
          </a:xfrm>
          <a:prstGeom prst="roundRect">
            <a:avLst>
              <a:gd name="adj" fmla="val 56250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657600"/>
            <a:ext cx="8558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23760" y="3657600"/>
            <a:ext cx="526694" cy="292608"/>
          </a:xfrm>
          <a:prstGeom prst="roundRect">
            <a:avLst>
              <a:gd name="adj" fmla="val 56250"/>
            </a:avLst>
          </a:prstGeom>
          <a:solidFill>
            <a:srgbClr val="CE93D8">
              <a:alpha val="20000"/>
            </a:srgbClr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3657600"/>
            <a:ext cx="4352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0" y="3657600"/>
            <a:ext cx="1788566" cy="292608"/>
          </a:xfrm>
          <a:prstGeom prst="roundRect">
            <a:avLst>
              <a:gd name="adj" fmla="val 56250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3657600"/>
            <a:ext cx="16971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Multi-doc Hit Rate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921240" y="3657600"/>
            <a:ext cx="1031443" cy="292608"/>
          </a:xfrm>
          <a:prstGeom prst="roundRect">
            <a:avLst>
              <a:gd name="adj" fmla="val 56250"/>
            </a:avLst>
          </a:prstGeom>
          <a:solidFill>
            <a:srgbClr val="69F0AE">
              <a:alpha val="20000"/>
            </a:srgbClr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66960" y="3657600"/>
            <a:ext cx="9400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EM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4096512"/>
            <a:ext cx="1031443" cy="292608"/>
          </a:xfrm>
          <a:prstGeom prst="roundRect">
            <a:avLst>
              <a:gd name="adj" fmla="val 56250"/>
            </a:avLst>
          </a:prstGeom>
          <a:solidFill>
            <a:srgbClr val="69F0AE">
              <a:alpha val="20000"/>
            </a:srgbClr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4096512"/>
            <a:ext cx="9400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F1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78040" y="4096512"/>
            <a:ext cx="947318" cy="292608"/>
          </a:xfrm>
          <a:prstGeom prst="roundRect">
            <a:avLst>
              <a:gd name="adj" fmla="val 56250"/>
            </a:avLst>
          </a:prstGeom>
          <a:solidFill>
            <a:srgbClr val="4DD0E1">
              <a:alpha val="20000"/>
            </a:srgbClr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4096512"/>
            <a:ext cx="8558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0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Joint F1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412480" y="4096512"/>
            <a:ext cx="1788566" cy="292608"/>
          </a:xfrm>
          <a:prstGeom prst="roundRect">
            <a:avLst>
              <a:gd name="adj" fmla="val 56250"/>
            </a:avLst>
          </a:prstGeom>
          <a:solidFill>
            <a:srgbClr val="FFAB40">
              <a:alpha val="20000"/>
            </a:srgbClr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58200" y="4096512"/>
            <a:ext cx="16971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Faithfulness Score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646920" y="4096512"/>
            <a:ext cx="1788566" cy="292608"/>
          </a:xfrm>
          <a:prstGeom prst="roundRect">
            <a:avLst>
              <a:gd name="adj" fmla="val 56250"/>
            </a:avLst>
          </a:prstGeom>
          <a:solidFill>
            <a:srgbClr val="EF5350">
              <a:alpha val="2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92640" y="4096512"/>
            <a:ext cx="16971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 Rate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26480" y="4535424"/>
            <a:ext cx="1283818" cy="292608"/>
          </a:xfrm>
          <a:prstGeom prst="roundRect">
            <a:avLst>
              <a:gd name="adj" fmla="val 56250"/>
            </a:avLst>
          </a:prstGeom>
          <a:solidFill>
            <a:srgbClr val="FFAB40">
              <a:alpha val="20000"/>
            </a:srgbClr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4535424"/>
            <a:ext cx="11923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Mode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60920" y="4535424"/>
            <a:ext cx="1788566" cy="292608"/>
          </a:xfrm>
          <a:prstGeom prst="roundRect">
            <a:avLst>
              <a:gd name="adj" fmla="val 56250"/>
            </a:avLst>
          </a:prstGeom>
          <a:solidFill>
            <a:srgbClr val="CE93D8">
              <a:alpha val="20000"/>
            </a:srgbClr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06640" y="4535424"/>
            <a:ext cx="16971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Misinfo Suppressed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Foundation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pipeline component is directly grounded in a peer-reviewed paper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148840" cy="3063240"/>
          </a:xfrm>
          <a:prstGeom prst="roundRect">
            <a:avLst>
              <a:gd name="adj" fmla="val 4255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04672"/>
            <a:ext cx="21488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87552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1316736"/>
            <a:ext cx="1929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Lewis et al., 2020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1572768"/>
            <a:ext cx="1929384" cy="1828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27632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— the foundational pattern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633472"/>
            <a:ext cx="1929384" cy="237744"/>
          </a:xfrm>
          <a:prstGeom prst="roundRect">
            <a:avLst>
              <a:gd name="adj" fmla="val 69231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633472"/>
            <a:ext cx="1837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92608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scaffold + schema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33472" y="804672"/>
            <a:ext cx="2148840" cy="3063240"/>
          </a:xfrm>
          <a:prstGeom prst="roundRect">
            <a:avLst>
              <a:gd name="adj" fmla="val 4255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33472" y="804672"/>
            <a:ext cx="214884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987552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RankRAG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1316736"/>
            <a:ext cx="1929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Yu et al., 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1572768"/>
            <a:ext cx="1929384" cy="1828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627632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as pointwise reranker — score each document independently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0" y="2633472"/>
            <a:ext cx="1929384" cy="237744"/>
          </a:xfrm>
          <a:prstGeom prst="roundRect">
            <a:avLst>
              <a:gd name="adj" fmla="val 69231"/>
            </a:avLst>
          </a:prstGeom>
          <a:solidFill>
            <a:srgbClr val="CE93D8">
              <a:alpha val="20000"/>
            </a:srgbClr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2633472"/>
            <a:ext cx="1837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Reranking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92608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reranker module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01184" y="804672"/>
            <a:ext cx="2148840" cy="3063240"/>
          </a:xfrm>
          <a:prstGeom prst="roundRect">
            <a:avLst>
              <a:gd name="adj" fmla="val 4255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01184" y="804672"/>
            <a:ext cx="2148840" cy="54864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987552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Self-RAG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10912" y="1316736"/>
            <a:ext cx="1929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Asai et al., 2023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10912" y="1572768"/>
            <a:ext cx="1929384" cy="1828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1627632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retrieval with reflection tokens for adaptive queries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10912" y="2633472"/>
            <a:ext cx="1929384" cy="237744"/>
          </a:xfrm>
          <a:prstGeom prst="roundRect">
            <a:avLst>
              <a:gd name="adj" fmla="val 69231"/>
            </a:avLst>
          </a:prstGeom>
          <a:solidFill>
            <a:srgbClr val="69F0AE">
              <a:alpha val="20000"/>
            </a:srgbClr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2633472"/>
            <a:ext cx="1837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292608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Hybrid retrieval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68896" y="804672"/>
            <a:ext cx="2148840" cy="3063240"/>
          </a:xfrm>
          <a:prstGeom prst="roundRect">
            <a:avLst>
              <a:gd name="adj" fmla="val 4255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68896" y="804672"/>
            <a:ext cx="2148840" cy="54864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78624" y="987552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MADAM-RAG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78624" y="1316736"/>
            <a:ext cx="1929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Yoran et al., 2024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78624" y="1572768"/>
            <a:ext cx="1929384" cy="1828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78624" y="1627632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debate — one agent per doc, arbitrator decides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78624" y="2633472"/>
            <a:ext cx="1929384" cy="237744"/>
          </a:xfrm>
          <a:prstGeom prst="roundRect">
            <a:avLst>
              <a:gd name="adj" fmla="val 69231"/>
            </a:avLst>
          </a:prstGeom>
          <a:solidFill>
            <a:srgbClr val="FFAB40">
              <a:alpha val="20000"/>
            </a:srgbClr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24344" y="2633472"/>
            <a:ext cx="1837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78624" y="292608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Debate + misinfo suppression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436608" y="804672"/>
            <a:ext cx="2148840" cy="3063240"/>
          </a:xfrm>
          <a:prstGeom prst="roundRect">
            <a:avLst>
              <a:gd name="adj" fmla="val 4255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36608" y="804672"/>
            <a:ext cx="2148840" cy="54864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46336" y="987552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D0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RAGChecker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546336" y="1316736"/>
            <a:ext cx="1929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 et al., 2024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546336" y="1572768"/>
            <a:ext cx="1929384" cy="1828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46336" y="1627632"/>
            <a:ext cx="1929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Claim-level faithfulness checking + failure mode taxonomy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546336" y="2633472"/>
            <a:ext cx="1929384" cy="237744"/>
          </a:xfrm>
          <a:prstGeom prst="roundRect">
            <a:avLst>
              <a:gd name="adj" fmla="val 69231"/>
            </a:avLst>
          </a:prstGeom>
          <a:solidFill>
            <a:srgbClr val="4DD0E1">
              <a:alpha val="20000"/>
            </a:srgbClr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92056" y="2633472"/>
            <a:ext cx="1837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0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546336" y="2926080"/>
            <a:ext cx="1929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Faithfulness + failure modes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5760" y="4005072"/>
            <a:ext cx="11457432" cy="502920"/>
          </a:xfrm>
          <a:prstGeom prst="roundRect">
            <a:avLst>
              <a:gd name="adj" fmla="val 18182"/>
            </a:avLst>
          </a:prstGeom>
          <a:solidFill>
            <a:srgbClr val="08082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4005072"/>
            <a:ext cx="54864" cy="5029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0965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Novel contribution: 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194560" y="4096512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5 papers integrated into a single runnable pipeline with shared schema, unified metrics, and graceful LLM fallbacks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9-step pipeline from raw question to verified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85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0D25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7782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Corpus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73936" y="1243584"/>
            <a:ext cx="137160" cy="36576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83664" y="1170432"/>
            <a:ext cx="109728" cy="182880"/>
          </a:xfrm>
          <a:prstGeom prst="triangle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585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74520" y="804672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0D25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87782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BM25/Hybrid/Iter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74136" y="1243584"/>
            <a:ext cx="137160" cy="36576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83864" y="1170432"/>
            <a:ext cx="109728" cy="182880"/>
          </a:xfrm>
          <a:prstGeom prst="triangle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585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RERANKING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977640" y="804672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0D25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87782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Reranker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56" y="1243584"/>
            <a:ext cx="137160" cy="36576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86984" y="1170432"/>
            <a:ext cx="109728" cy="182880"/>
          </a:xfrm>
          <a:prstGeom prst="triangle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585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DEBATE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806440" y="804672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0D25"/>
          </a:solidFill>
          <a:ln w="19050">
            <a:solidFill>
              <a:srgbClr val="FFAB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87782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06056" y="1243584"/>
            <a:ext cx="137160" cy="36576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15784" y="1170432"/>
            <a:ext cx="109728" cy="182880"/>
          </a:xfrm>
          <a:prstGeom prst="triangle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585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909560" y="804672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0D25"/>
          </a:solidFill>
          <a:ln w="19050">
            <a:solidFill>
              <a:srgbClr val="69F0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87782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09176" y="1243584"/>
            <a:ext cx="137160" cy="36576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18904" y="1170432"/>
            <a:ext cx="109728" cy="182880"/>
          </a:xfrm>
          <a:prstGeom prst="triangle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0" y="585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DD0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FAITHFULNESS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784080" y="804672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0D25"/>
          </a:solidFill>
          <a:ln w="19050">
            <a:solidFill>
              <a:srgbClr val="4DD0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87782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Faithfulness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1883664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0F0F28"/>
          </a:solidFill>
          <a:ln w="12700">
            <a:solidFill>
              <a:srgbClr val="4FC3F7">
                <a:alpha val="27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19751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Query input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23957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Corpus documents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28163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10 docs/query (HotpotQA)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32369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Gold/Misinfo/Noise (RAMDocs)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874520" y="1883664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0F0F28"/>
          </a:solidFill>
          <a:ln w="12700">
            <a:solidFill>
              <a:srgbClr val="818CF8">
                <a:alpha val="27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65960" y="19751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BM25 sparse scoring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965960" y="23957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Hybrid: BM25+Dense+RRF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965960" y="28163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Iterative: 2-pass bridge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965960" y="32369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Top-K → reranker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977640" y="1883664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0F0F28"/>
          </a:solidFill>
          <a:ln w="12700">
            <a:solidFill>
              <a:srgbClr val="CE93D8">
                <a:alpha val="27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69080" y="19751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LLM scores each doc 1-10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069080" y="23957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Re-orders by relevance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069080" y="28163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Fallback: original order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069080" y="32369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Circuit breaker on error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806440" y="1883664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0F0F28"/>
          </a:solidFill>
          <a:ln w="12700">
            <a:solidFill>
              <a:srgbClr val="FFAB40">
                <a:alpha val="27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7880" y="19751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1 agent per document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897880" y="23957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Local answer + confidence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897880" y="28163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Label weights for misinfo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97880" y="32369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Arbitrator picks winner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09560" y="1883664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0F0F28"/>
          </a:solidFill>
          <a:ln w="12700">
            <a:solidFill>
              <a:srgbClr val="69F0AE">
                <a:alpha val="27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01000" y="19751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Rule-based: regex/match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001000" y="23957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LLM: full debate synthesis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001000" y="28163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Heuristic fallback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001000" y="32369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EM + F1 evaluation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784080" y="1883664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0F0F28"/>
          </a:solidFill>
          <a:ln w="12700">
            <a:solidFill>
              <a:srgbClr val="4DD0E1">
                <a:alpha val="27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75520" y="19751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Is answer grounded?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875520" y="23957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Detect hallucinations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875520" y="28163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Failure mode: correct /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875520" y="32369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retrieval / generation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874520" y="3913632"/>
            <a:ext cx="8458200" cy="365760"/>
          </a:xfrm>
          <a:prstGeom prst="roundRect">
            <a:avLst>
              <a:gd name="adj" fmla="val 15000"/>
            </a:avLst>
          </a:prstGeom>
          <a:solidFill>
            <a:srgbClr val="0A0A1E"/>
          </a:solidFill>
          <a:ln w="12700">
            <a:solidFill>
              <a:srgbClr val="252545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1920240" y="3950208"/>
            <a:ext cx="8366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QueryTrace — unified schema capturing every intermediate result for reproducibility and audit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4407408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0F0F28"/>
          </a:solidFill>
          <a:ln w="12700">
            <a:solidFill>
              <a:srgbClr val="4FC3F7">
                <a:alpha val="27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4622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HotpotQA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4864608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0F0F28"/>
          </a:solidFill>
          <a:ln w="12700">
            <a:solidFill>
              <a:srgbClr val="FFAB40">
                <a:alpha val="27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9194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RAMDocs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784080" y="4407408"/>
            <a:ext cx="1764792" cy="868680"/>
          </a:xfrm>
          <a:prstGeom prst="roundRect">
            <a:avLst>
              <a:gd name="adj" fmla="val 10526"/>
            </a:avLst>
          </a:prstGeom>
          <a:solidFill>
            <a:srgbClr val="0F0F28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84080" y="4407408"/>
            <a:ext cx="1764792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75520" y="4572000"/>
            <a:ext cx="1581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Answer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875520" y="4864608"/>
            <a:ext cx="1581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failure mode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evidence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Retrieval Strategies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Progressive complexity — each addresses a limitation of the previous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657600" cy="3977640"/>
          </a:xfrm>
          <a:prstGeom prst="roundRect">
            <a:avLst>
              <a:gd name="adj" fmla="val 2500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04672"/>
            <a:ext cx="365760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60120"/>
            <a:ext cx="1005840" cy="256032"/>
          </a:xfrm>
          <a:prstGeom prst="roundRect">
            <a:avLst>
              <a:gd name="adj" fmla="val 64286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81051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Sparse keyword matching using TF-IDF weights. Fast, interpretable, strong baseline.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3383280" cy="1828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237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Tokenize query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Score docs by term overlap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1455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Return Top-K by BM25 score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279392"/>
            <a:ext cx="3474720" cy="402336"/>
          </a:xfrm>
          <a:prstGeom prst="roundRect">
            <a:avLst>
              <a:gd name="adj" fmla="val 15909"/>
            </a:avLst>
          </a:prstGeom>
          <a:solidFill>
            <a:srgbClr val="0A0A20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15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Recall@5: 0.650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61104" y="804672"/>
            <a:ext cx="3657600" cy="3977640"/>
          </a:xfrm>
          <a:prstGeom prst="roundRect">
            <a:avLst>
              <a:gd name="adj" fmla="val 2500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61104" y="804672"/>
            <a:ext cx="36576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98264" y="960120"/>
            <a:ext cx="1005840" cy="256032"/>
          </a:xfrm>
          <a:prstGeom prst="roundRect">
            <a:avLst>
              <a:gd name="adj" fmla="val 64286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98264" y="1261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(BM25 + Dense)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98264" y="181051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Fuses sparse BM25 with dense semantic embeddings via Reciprocal Rank Fusion.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98264" y="2468880"/>
            <a:ext cx="3383280" cy="1828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8264" y="25237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BM25 score (sparse)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98264" y="2834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Sentence-transformer embeddings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98264" y="31455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RRF fusion → re-ranked list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52544" y="4279392"/>
            <a:ext cx="3474720" cy="402336"/>
          </a:xfrm>
          <a:prstGeom prst="roundRect">
            <a:avLst>
              <a:gd name="adj" fmla="val 15909"/>
            </a:avLst>
          </a:prstGeom>
          <a:solidFill>
            <a:srgbClr val="0A0A20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4315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Recall@5: 0.768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56448" y="804672"/>
            <a:ext cx="3657600" cy="3977640"/>
          </a:xfrm>
          <a:prstGeom prst="roundRect">
            <a:avLst>
              <a:gd name="adj" fmla="val 2500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6448" y="804672"/>
            <a:ext cx="3657600" cy="54864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3608" y="960120"/>
            <a:ext cx="1005840" cy="256032"/>
          </a:xfrm>
          <a:prstGeom prst="roundRect">
            <a:avLst>
              <a:gd name="adj" fmla="val 64286"/>
            </a:avLst>
          </a:prstGeom>
          <a:solidFill>
            <a:srgbClr val="69F0AE">
              <a:alpha val="20000"/>
            </a:srgbClr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★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93608" y="1261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93608" y="181051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Two-pass retrieval inspired by Self-RAG: first pass extracts bridge entities for the second query.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93608" y="2468880"/>
            <a:ext cx="3383280" cy="1828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93608" y="25237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Pass 1: Hybrid on original Q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93608" y="2834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Extract bridge entities from results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93608" y="31455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Pass 2: Hybrid on Q + entities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93608" y="34564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Merge both result sets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47888" y="4279392"/>
            <a:ext cx="3474720" cy="402336"/>
          </a:xfrm>
          <a:prstGeom prst="roundRect">
            <a:avLst>
              <a:gd name="adj" fmla="val 15909"/>
            </a:avLst>
          </a:prstGeom>
          <a:solidFill>
            <a:srgbClr val="003320"/>
          </a:solidFill>
          <a:ln w="12700">
            <a:solidFill>
              <a:srgbClr val="69F0AE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4315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Recall@5: 0.770 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828032"/>
            <a:ext cx="11457432" cy="475488"/>
          </a:xfrm>
          <a:prstGeom prst="roundRect">
            <a:avLst>
              <a:gd name="adj" fmla="val 19231"/>
            </a:avLst>
          </a:prstGeom>
          <a:solidFill>
            <a:srgbClr val="0A152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4828032"/>
            <a:ext cx="54864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892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Hybrid example:  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560320" y="48920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"Spectre director nationality?" → Pass 1 finds Spectre article → extracts bridge entity "Sam Mendes" → Pass 2 finds Sam Mendes bio → both gold docs retrieved 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Reranking &amp; Multi-Agent Debate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RankRAG-style LLM scoring feeds directly into MADAM-RAG debate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LLM Reranker  (RankRAG)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5394960" cy="1993392"/>
          </a:xfrm>
          <a:prstGeom prst="roundRect">
            <a:avLst>
              <a:gd name="adj" fmla="val 4587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435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retrieved document, the LLM is asked: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36192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060614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727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 a scale 1–10, how relevant is this document to the question?"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579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Assigns relevance score per document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Re-orders documents before debate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7066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Deterministic fallback: original BM25 order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5394960" cy="475488"/>
          </a:xfrm>
          <a:prstGeom prst="roundRect">
            <a:avLst>
              <a:gd name="adj" fmla="val 19231"/>
            </a:avLst>
          </a:prstGeom>
          <a:solidFill>
            <a:srgbClr val="12082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00400"/>
            <a:ext cx="54864" cy="47548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735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3273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jumps from  0.595 → 0.74  with BM25 + LLM reranker  (+24%)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7498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Multi-Agent Debate  (MADAM-RAG)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1115568"/>
            <a:ext cx="5486400" cy="1993392"/>
          </a:xfrm>
          <a:prstGeom prst="roundRect">
            <a:avLst>
              <a:gd name="adj" fmla="val 4587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243584"/>
            <a:ext cx="1115568" cy="658368"/>
          </a:xfrm>
          <a:prstGeom prst="roundRect">
            <a:avLst>
              <a:gd name="adj" fmla="val 11111"/>
            </a:avLst>
          </a:prstGeom>
          <a:solidFill>
            <a:srgbClr val="0A0A20"/>
          </a:solidFill>
          <a:ln w="12700">
            <a:solidFill>
              <a:srgbClr val="69F0AE">
                <a:alpha val="53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28016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1554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doc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26096" y="1243584"/>
            <a:ext cx="1115568" cy="658368"/>
          </a:xfrm>
          <a:prstGeom prst="roundRect">
            <a:avLst>
              <a:gd name="adj" fmla="val 11111"/>
            </a:avLst>
          </a:prstGeom>
          <a:solidFill>
            <a:srgbClr val="0A0A20"/>
          </a:solidFill>
          <a:ln w="12700">
            <a:solidFill>
              <a:srgbClr val="EF5350">
                <a:alpha val="53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71816" y="128016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71816" y="1554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misinfo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851392" y="1243584"/>
            <a:ext cx="1115568" cy="658368"/>
          </a:xfrm>
          <a:prstGeom prst="roundRect">
            <a:avLst>
              <a:gd name="adj" fmla="val 11111"/>
            </a:avLst>
          </a:prstGeom>
          <a:solidFill>
            <a:srgbClr val="0A0A20"/>
          </a:solidFill>
          <a:ln w="12700">
            <a:solidFill>
              <a:srgbClr val="7070A0">
                <a:alpha val="53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7112" y="128016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97112" y="1554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076688" y="1243584"/>
            <a:ext cx="1115568" cy="658368"/>
          </a:xfrm>
          <a:prstGeom prst="roundRect">
            <a:avLst>
              <a:gd name="adj" fmla="val 11111"/>
            </a:avLst>
          </a:prstGeom>
          <a:solidFill>
            <a:srgbClr val="0A0A20"/>
          </a:solidFill>
          <a:ln w="12700">
            <a:solidFill>
              <a:srgbClr val="69F0AE">
                <a:alpha val="53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22408" y="128016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22408" y="1554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doc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0" y="1920240"/>
            <a:ext cx="5230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 weighted votes  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2212848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1A0E00"/>
          </a:solidFill>
          <a:ln w="19050">
            <a:solidFill>
              <a:srgbClr val="FFAB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21284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Arbitrator — final answer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2852928"/>
            <a:ext cx="1664208" cy="475488"/>
          </a:xfrm>
          <a:prstGeom prst="roundRect">
            <a:avLst>
              <a:gd name="adj" fmla="val 13462"/>
            </a:avLst>
          </a:prstGeom>
          <a:solidFill>
            <a:srgbClr val="080818"/>
          </a:solidFill>
          <a:ln w="12700">
            <a:solidFill>
              <a:srgbClr val="69F0AE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287121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doc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46520" y="3090672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+2.0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83880" y="2852928"/>
            <a:ext cx="1664208" cy="475488"/>
          </a:xfrm>
          <a:prstGeom prst="roundRect">
            <a:avLst>
              <a:gd name="adj" fmla="val 13462"/>
            </a:avLst>
          </a:prstGeom>
          <a:solidFill>
            <a:srgbClr val="080818"/>
          </a:solidFill>
          <a:ln w="12700">
            <a:solidFill>
              <a:srgbClr val="EF5350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287121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misinformation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3090672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−1.5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966960" y="2852928"/>
            <a:ext cx="1664208" cy="475488"/>
          </a:xfrm>
          <a:prstGeom prst="roundRect">
            <a:avLst>
              <a:gd name="adj" fmla="val 13462"/>
            </a:avLst>
          </a:prstGeom>
          <a:solidFill>
            <a:srgbClr val="080818"/>
          </a:solidFill>
          <a:ln w="12700">
            <a:solidFill>
              <a:srgbClr val="7070A0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12680" y="287121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doc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12680" y="3090672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−0.5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3200400"/>
            <a:ext cx="5486400" cy="475488"/>
          </a:xfrm>
          <a:prstGeom prst="roundRect">
            <a:avLst>
              <a:gd name="adj" fmla="val 19231"/>
            </a:avLst>
          </a:prstGeom>
          <a:solidFill>
            <a:srgbClr val="12100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3200400"/>
            <a:ext cx="54864" cy="475488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273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Misinfo suppressed: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21040" y="32735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96.5% on RAMDocs   |   Active suppression, not passive observation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89320" y="749808"/>
            <a:ext cx="18288" cy="301752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822192"/>
            <a:ext cx="11457432" cy="1261872"/>
          </a:xfrm>
          <a:prstGeom prst="roundRect">
            <a:avLst>
              <a:gd name="adj" fmla="val 7246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3822192"/>
            <a:ext cx="11457432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RAMDocs — Misinformation Tracing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42245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document carries a label (gold / misinfo / noise) loaded at dataset parse time → passed to each debate agent → used as multiplier weight → arbitrator picks answer with highest weighted score → final flag indicates whether the winning answer matches any known wrong answer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Faithfulness &amp; Failure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RAGChecker-style — two paths, always produces a classification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D0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A — LLM Judge  (when available)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07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receives: question · predicted answer · gold answer · retrieved docs (first 600 chars each)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structured JSON: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810512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04041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653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"faithfulness_score": 7,          // 0–10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"hallucinated_claims": ["..."],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"failure_mode": "generation_failure"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7614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0–10 normalised to 0.0–1.0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9992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Circuit breaker: if LLM returns 'unknown' → fallback to Path 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7498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B — Deterministic Fallback  (no LLM needed)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2070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Pure logic — no LLM required: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1536192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003322"/>
          </a:solidFill>
          <a:ln w="12700">
            <a:solidFill>
              <a:srgbClr val="69F0AE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58191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=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0" y="158191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0" y="158191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223113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1A1000"/>
          </a:solidFill>
          <a:ln w="12700">
            <a:solidFill>
              <a:srgbClr val="FFAB4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27685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= 0, gold docs retrieved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0" y="227685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0" y="227685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generation_failure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292608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00000"/>
          </a:solidFill>
          <a:ln w="12700">
            <a:solidFill>
              <a:srgbClr val="EF535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= 0, gold docs missing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0" y="29718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0" y="29718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retrieval_failure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749808"/>
            <a:ext cx="18288" cy="27432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47872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547872"/>
            <a:ext cx="54864" cy="148132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63931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~90%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30352" y="42976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all failures are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" y="45354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failures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1104" y="3547872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1104" y="3547872"/>
            <a:ext cx="54864" cy="1481328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5696" y="363931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~10%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4425696" y="42976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all failures are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25696" y="45354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failures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56448" y="3547872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56448" y="3547872"/>
            <a:ext cx="54864" cy="1481328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363931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9:1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8321040" y="42976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: generation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21040" y="45354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ratio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Experimental Setup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experimental runs — each isolating a different pipeline stage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55448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04672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804672"/>
            <a:ext cx="210312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804672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804672"/>
            <a:ext cx="155448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6512" y="804672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Reranker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804672"/>
            <a:ext cx="137160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804672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804672"/>
            <a:ext cx="137160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804672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Faithfulness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804672"/>
            <a:ext cx="2313432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804672"/>
            <a:ext cx="216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216152"/>
            <a:ext cx="1554480" cy="502920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21615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20240" y="1216152"/>
            <a:ext cx="2103120" cy="502920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1216152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/ Hybrid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23360" y="1216152"/>
            <a:ext cx="1554480" cy="502920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121615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1216152"/>
            <a:ext cx="1371600" cy="502920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1216152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49440" y="1216152"/>
            <a:ext cx="1371600" cy="502920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1216152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21040" y="1216152"/>
            <a:ext cx="2313432" cy="502920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1216152"/>
            <a:ext cx="216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No-reranker floor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1719072"/>
            <a:ext cx="155448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171907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Rerank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20240" y="1719072"/>
            <a:ext cx="210312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1719072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/ Hybrid / Iterative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23360" y="1719072"/>
            <a:ext cx="155448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96512" y="171907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8B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1719072"/>
            <a:ext cx="137160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1719072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49440" y="1719072"/>
            <a:ext cx="137160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1719072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21040" y="1719072"/>
            <a:ext cx="2313432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94192" y="1719072"/>
            <a:ext cx="216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Reranker impact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2221992"/>
            <a:ext cx="1554480" cy="502920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22219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Haiku Best ★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920240" y="2221992"/>
            <a:ext cx="2103120" cy="502920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93392" y="2221992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23360" y="2221992"/>
            <a:ext cx="1554480" cy="502920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96512" y="22219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Haiku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577840" y="2221992"/>
            <a:ext cx="1371600" cy="502920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50992" y="2221992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49440" y="2221992"/>
            <a:ext cx="1371600" cy="502920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22592" y="2221992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judge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321040" y="2221992"/>
            <a:ext cx="2313432" cy="502920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94192" y="2221992"/>
            <a:ext cx="216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Best-quality LLM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2221992"/>
            <a:ext cx="54864" cy="50292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2724912"/>
            <a:ext cx="155448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272491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Generation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920240" y="2724912"/>
            <a:ext cx="210312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93392" y="2724912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/ Iterative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023360" y="2724912"/>
            <a:ext cx="155448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6512" y="272491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8B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577840" y="2724912"/>
            <a:ext cx="137160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50992" y="2724912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debate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949440" y="2724912"/>
            <a:ext cx="137160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22592" y="2724912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judge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21040" y="2724912"/>
            <a:ext cx="2313432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94192" y="2724912"/>
            <a:ext cx="216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LLM pipeline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65760" y="3465576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3465576"/>
            <a:ext cx="36118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36027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Backends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02920" y="39227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Ollama Llama 3.2 3B (local)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02920" y="421538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Groq Llama 3.1 8B (free cloud)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02920" y="45079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Anthropic Claude Haiku (paid)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215384" y="3465576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15384" y="3465576"/>
            <a:ext cx="361188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52544" y="36027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352544" y="39227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queries × HotpotQA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4352544" y="421538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queries × RAMDocs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4352544" y="45079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~3,000+ LLM calls per full run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8065008" y="3465576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65008" y="3465576"/>
            <a:ext cx="3611880" cy="54864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02168" y="36027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0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 Values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202168" y="39227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Recall@2, @3, @5, @10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8202168" y="421538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Multi-doc hit rate @K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8202168" y="45079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 (mean reciprocal rank)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— Retrieval Quality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HotpotQA · LLM Rerank run · higher = better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92608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804672"/>
            <a:ext cx="182880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8046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804672"/>
            <a:ext cx="182880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8046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804672"/>
            <a:ext cx="228600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8046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Multi-doc Hit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216152"/>
            <a:ext cx="2926080" cy="475488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2161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(baseline)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216152"/>
            <a:ext cx="1828800" cy="475488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2161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0.650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216152"/>
            <a:ext cx="1828800" cy="475488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2161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216152"/>
            <a:ext cx="2286000" cy="475488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21615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0.245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691640"/>
            <a:ext cx="2926080" cy="475488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6916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+ LLM Rerank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1691640"/>
            <a:ext cx="1828800" cy="475488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6916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1691640"/>
            <a:ext cx="1828800" cy="475488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16916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0.875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1691640"/>
            <a:ext cx="2286000" cy="475488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6916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0.385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167128"/>
            <a:ext cx="2926080" cy="475488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167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+ LLM Rerank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2167128"/>
            <a:ext cx="1828800" cy="475488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16712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0.768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2167128"/>
            <a:ext cx="1828800" cy="475488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16712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0.926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9440" y="2167128"/>
            <a:ext cx="2286000" cy="475488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21671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0.425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2642616"/>
            <a:ext cx="2926080" cy="475488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64261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Hybrid ★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2642616"/>
            <a:ext cx="1828800" cy="475488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264261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0.770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20640" y="2642616"/>
            <a:ext cx="1828800" cy="475488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64261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0.926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49440" y="2642616"/>
            <a:ext cx="2286000" cy="475488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264261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0.435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2642616"/>
            <a:ext cx="54864" cy="475488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2944368"/>
            <a:ext cx="8869680" cy="411480"/>
          </a:xfrm>
          <a:prstGeom prst="roundRect">
            <a:avLst>
              <a:gd name="adj" fmla="val 22222"/>
            </a:avLst>
          </a:prstGeom>
          <a:solidFill>
            <a:srgbClr val="0A100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2944368"/>
            <a:ext cx="54864" cy="41148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2999232"/>
            <a:ext cx="8503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reranker alone adds +10% Recall@5 over baseline BM25  (0.650 → 0.750)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0" y="8046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Recall@5 comparison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144000" y="11521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baseline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144000" y="1353312"/>
            <a:ext cx="2743200" cy="256032"/>
          </a:xfrm>
          <a:prstGeom prst="rect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0" y="1353312"/>
            <a:ext cx="2315261" cy="256032"/>
          </a:xfrm>
          <a:prstGeom prst="rect">
            <a:avLst/>
          </a:prstGeom>
          <a:solidFill>
            <a:srgbClr val="555580"/>
          </a:solidFill>
          <a:ln w="12700">
            <a:solidFill>
              <a:srgbClr val="5555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942064" y="1335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0.650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144000" y="1627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+ Rerank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144000" y="1828800"/>
            <a:ext cx="2743200" cy="256032"/>
          </a:xfrm>
          <a:prstGeom prst="rect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44000" y="1828800"/>
            <a:ext cx="2671877" cy="256032"/>
          </a:xfrm>
          <a:prstGeom prst="rect">
            <a:avLst/>
          </a:prstGeom>
          <a:solidFill>
            <a:srgbClr val="4466CC"/>
          </a:solidFill>
          <a:ln w="12700">
            <a:solidFill>
              <a:srgbClr val="4466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942064" y="18105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144000" y="2103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+ Rerank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144000" y="2304288"/>
            <a:ext cx="2743200" cy="256032"/>
          </a:xfrm>
          <a:prstGeom prst="rect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44000" y="2304288"/>
            <a:ext cx="2734970" cy="256032"/>
          </a:xfrm>
          <a:prstGeom prst="rect">
            <a:avLst/>
          </a:prstGeom>
          <a:solidFill>
            <a:srgbClr val="2288CC"/>
          </a:solidFill>
          <a:ln w="12700">
            <a:solidFill>
              <a:srgbClr val="2288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942064" y="2286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0.768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144000" y="2578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★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144000" y="2779776"/>
            <a:ext cx="2743200" cy="256032"/>
          </a:xfrm>
          <a:prstGeom prst="rect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44000" y="2779776"/>
            <a:ext cx="2743200" cy="256032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942064" y="27614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0.770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3493008"/>
            <a:ext cx="11457432" cy="2084832"/>
          </a:xfrm>
          <a:prstGeom prst="roundRect">
            <a:avLst>
              <a:gd name="adj" fmla="val 4386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362102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Iterative Hybrid wins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02920" y="39776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0A0A1A"/>
          </a:solidFill>
          <a:ln w="12700">
            <a:solidFill>
              <a:srgbClr val="7070A0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(no rerank)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94360" y="43708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Recall@5 = 0.650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94360" y="4626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 = 0.850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319272" y="39776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0A0A1A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10712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+ LLM Rerank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3410712" y="43708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Recall@5 = 0.750  (+15%)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410712" y="4626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 = 0.875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135624" y="39776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0A0A1A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27064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+ LLM Rerank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227064" y="43708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Recall@5 = 0.768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227064" y="4626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 = 0.926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951976" y="39776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0A1A0A"/>
          </a:solidFill>
          <a:ln w="12700">
            <a:solidFill>
              <a:srgbClr val="69F0AE">
                <a:alpha val="4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43416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Hybrid ★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9043416" y="43708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Recall@5 = 0.770 (best)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043416" y="4626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 = 0.926  (best)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— Answer Quality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HotpotQA Exact Match across all pipeline configurations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926080" cy="384048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804672"/>
            <a:ext cx="1691640" cy="384048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8046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(HotpotQA)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83480" y="804672"/>
            <a:ext cx="1691640" cy="384048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8046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F1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804672"/>
            <a:ext cx="1691640" cy="384048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8046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Faithfulness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66760" y="804672"/>
            <a:ext cx="1536192" cy="384048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804672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Halluc.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188720"/>
            <a:ext cx="2926080" cy="42062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18872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(BM25)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1188720"/>
            <a:ext cx="1691640" cy="42062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18872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0.595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83480" y="1188720"/>
            <a:ext cx="1691640" cy="42062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18872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0.602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75120" y="1188720"/>
            <a:ext cx="1691640" cy="42062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18872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66760" y="1188720"/>
            <a:ext cx="1536192" cy="42062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118872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1609344"/>
            <a:ext cx="2926080" cy="42062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6093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+ LLM Rerank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1609344"/>
            <a:ext cx="1691640" cy="42062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160934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0.740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83480" y="1609344"/>
            <a:ext cx="1691640" cy="42062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160934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0.745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75120" y="1609344"/>
            <a:ext cx="1691640" cy="42062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160934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66760" y="1609344"/>
            <a:ext cx="1536192" cy="42062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160934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029968"/>
            <a:ext cx="2926080" cy="42062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02996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+ LLM Rerank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2029968"/>
            <a:ext cx="1691640" cy="42062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202996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0.710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2029968"/>
            <a:ext cx="1691640" cy="42062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202996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0.716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75120" y="2029968"/>
            <a:ext cx="1691640" cy="42062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202996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366760" y="2029968"/>
            <a:ext cx="1536192" cy="42062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58200" y="202996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450592"/>
            <a:ext cx="2926080" cy="42062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45059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Haiku + BM25 (BEST) ★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91840" y="2450592"/>
            <a:ext cx="1691640" cy="42062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0" y="245059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0.800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983480" y="2450592"/>
            <a:ext cx="1691640" cy="42062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4920" y="245059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0.800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675120" y="2450592"/>
            <a:ext cx="1691640" cy="42062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0" y="245059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366760" y="2450592"/>
            <a:ext cx="1536192" cy="42062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58200" y="2450592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65760" y="2450592"/>
            <a:ext cx="54864" cy="420624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2871216"/>
            <a:ext cx="2926080" cy="420624"/>
          </a:xfrm>
          <a:prstGeom prst="rect">
            <a:avLst/>
          </a:prstGeom>
          <a:solidFill>
            <a:srgbClr val="15050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287121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Gen · BM25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91840" y="2871216"/>
            <a:ext cx="1691640" cy="420624"/>
          </a:xfrm>
          <a:prstGeom prst="rect">
            <a:avLst/>
          </a:prstGeom>
          <a:solidFill>
            <a:srgbClr val="15050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3280" y="287121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0.220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983480" y="2871216"/>
            <a:ext cx="1691640" cy="420624"/>
          </a:xfrm>
          <a:prstGeom prst="rect">
            <a:avLst/>
          </a:prstGeom>
          <a:solidFill>
            <a:srgbClr val="15050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74920" y="287121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0.359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675120" y="2871216"/>
            <a:ext cx="1691640" cy="420624"/>
          </a:xfrm>
          <a:prstGeom prst="rect">
            <a:avLst/>
          </a:prstGeom>
          <a:solidFill>
            <a:srgbClr val="15050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66560" y="287121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0.482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66760" y="2871216"/>
            <a:ext cx="1536192" cy="420624"/>
          </a:xfrm>
          <a:prstGeom prst="rect">
            <a:avLst/>
          </a:prstGeom>
          <a:solidFill>
            <a:srgbClr val="15050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58200" y="2871216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36%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65760" y="2871216"/>
            <a:ext cx="54864" cy="42062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3291840"/>
            <a:ext cx="2926080" cy="420624"/>
          </a:xfrm>
          <a:prstGeom prst="rect">
            <a:avLst/>
          </a:prstGeom>
          <a:solidFill>
            <a:srgbClr val="140B0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329184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Gen · Hybrid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91840" y="3291840"/>
            <a:ext cx="1691640" cy="420624"/>
          </a:xfrm>
          <a:prstGeom prst="rect">
            <a:avLst/>
          </a:prstGeom>
          <a:solidFill>
            <a:srgbClr val="140B0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83280" y="329184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0.180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983480" y="3291840"/>
            <a:ext cx="1691640" cy="420624"/>
          </a:xfrm>
          <a:prstGeom prst="rect">
            <a:avLst/>
          </a:prstGeom>
          <a:solidFill>
            <a:srgbClr val="140B0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74920" y="329184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0.347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675120" y="3291840"/>
            <a:ext cx="1691640" cy="420624"/>
          </a:xfrm>
          <a:prstGeom prst="rect">
            <a:avLst/>
          </a:prstGeom>
          <a:solidFill>
            <a:srgbClr val="140B0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0" y="329184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0.490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366760" y="3291840"/>
            <a:ext cx="1536192" cy="420624"/>
          </a:xfrm>
          <a:prstGeom prst="rect">
            <a:avLst/>
          </a:prstGeom>
          <a:solidFill>
            <a:srgbClr val="140B0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458200" y="329184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28%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65760" y="3291840"/>
            <a:ext cx="54864" cy="420624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5760" y="3712464"/>
            <a:ext cx="2926080" cy="420624"/>
          </a:xfrm>
          <a:prstGeom prst="rect">
            <a:avLst/>
          </a:prstGeom>
          <a:solidFill>
            <a:srgbClr val="140B0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371246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Gen · Iterative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291840" y="3712464"/>
            <a:ext cx="1691640" cy="420624"/>
          </a:xfrm>
          <a:prstGeom prst="rect">
            <a:avLst/>
          </a:prstGeom>
          <a:solidFill>
            <a:srgbClr val="140B0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83280" y="371246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0.260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983480" y="3712464"/>
            <a:ext cx="1691640" cy="420624"/>
          </a:xfrm>
          <a:prstGeom prst="rect">
            <a:avLst/>
          </a:prstGeom>
          <a:solidFill>
            <a:srgbClr val="140B0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74920" y="371246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0.422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675120" y="3712464"/>
            <a:ext cx="1691640" cy="420624"/>
          </a:xfrm>
          <a:prstGeom prst="rect">
            <a:avLst/>
          </a:prstGeom>
          <a:solidFill>
            <a:srgbClr val="140B0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66560" y="371246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0.574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366760" y="3712464"/>
            <a:ext cx="1536192" cy="420624"/>
          </a:xfrm>
          <a:prstGeom prst="rect">
            <a:avLst/>
          </a:prstGeom>
          <a:solidFill>
            <a:srgbClr val="140B0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58200" y="371246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18%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65760" y="3712464"/>
            <a:ext cx="54864" cy="420624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5760" y="3913632"/>
            <a:ext cx="9354312" cy="365760"/>
          </a:xfrm>
          <a:prstGeom prst="roundRect">
            <a:avLst>
              <a:gd name="adj" fmla="val 25000"/>
            </a:avLst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5760" y="3913632"/>
            <a:ext cx="54864" cy="36576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4360" y="395020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RAMDocs:  all methods ≈ 0.96 EM  ·  Misinformation suppressed 96.5%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65760" y="4425696"/>
            <a:ext cx="11457432" cy="694944"/>
          </a:xfrm>
          <a:prstGeom prst="roundRect">
            <a:avLst>
              <a:gd name="adj" fmla="val 13158"/>
            </a:avLst>
          </a:prstGeom>
          <a:solidFill>
            <a:srgbClr val="18080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5760" y="4425696"/>
            <a:ext cx="54864" cy="69494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94360" y="4498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Surprise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2331720" y="4498848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LLM debate generation EM dropped from 0.80 → 0.22.  LLMs paraphrase correct answers in ways that break exact-match — they say "British" as "British nationality" or "United Kingdom".  Rule-based extraction wins for factoid QA.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Backend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pipeline, three backends — quality vs cost trade-off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56032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804672"/>
            <a:ext cx="228600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8046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804672"/>
            <a:ext cx="173736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8046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(HotpotQA)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804672"/>
            <a:ext cx="155448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8046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Faithfulness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03920" y="804672"/>
            <a:ext cx="1554480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8046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Halluc.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0" y="804672"/>
            <a:ext cx="1033272" cy="411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0" y="804672"/>
            <a:ext cx="850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216152"/>
            <a:ext cx="2560320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216152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+ Ollama rerank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1216152"/>
            <a:ext cx="2286000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21615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 3.2 3B · local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1216152"/>
            <a:ext cx="1737360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216152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0.650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1216152"/>
            <a:ext cx="1554480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21615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1216152"/>
            <a:ext cx="1554480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121615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0" y="1216152"/>
            <a:ext cx="1033272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49840" y="1216152"/>
            <a:ext cx="850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1728216"/>
            <a:ext cx="2560320" cy="51206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172821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+ Groq rerank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0" y="1728216"/>
            <a:ext cx="2286000" cy="51206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172821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 3.1 8B · cloud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1728216"/>
            <a:ext cx="1737360" cy="51206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1728216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0.740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9440" y="1728216"/>
            <a:ext cx="1554480" cy="51206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172821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0.482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1728216"/>
            <a:ext cx="1554480" cy="51206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172821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0" y="1728216"/>
            <a:ext cx="1033272" cy="512064"/>
          </a:xfrm>
          <a:prstGeom prst="rect">
            <a:avLst/>
          </a:prstGeom>
          <a:solidFill>
            <a:srgbClr val="0A0A1A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49840" y="1728216"/>
            <a:ext cx="850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2240280"/>
            <a:ext cx="2560320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22402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+ Groq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26080" y="2240280"/>
            <a:ext cx="2286000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224028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 3.1 8B · cloud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12080" y="2240280"/>
            <a:ext cx="1737360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0" y="224028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0.705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49440" y="2240280"/>
            <a:ext cx="1554480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22402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0.574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03920" y="2240280"/>
            <a:ext cx="1554480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95360" y="22402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058400" y="2240280"/>
            <a:ext cx="1033272" cy="512064"/>
          </a:xfrm>
          <a:prstGeom prst="rect">
            <a:avLst/>
          </a:prstGeom>
          <a:solidFill>
            <a:srgbClr val="08081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49840" y="2240280"/>
            <a:ext cx="850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2752344"/>
            <a:ext cx="2560320" cy="51206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275234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+ Haiku rerank ★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926080" y="2752344"/>
            <a:ext cx="2286000" cy="51206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275234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Haiku · API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212080" y="2752344"/>
            <a:ext cx="1737360" cy="51206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0" y="2752344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0.800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949440" y="2752344"/>
            <a:ext cx="1554480" cy="51206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275234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503920" y="2752344"/>
            <a:ext cx="1554480" cy="51206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95360" y="275234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0058400" y="2752344"/>
            <a:ext cx="1033272" cy="512064"/>
          </a:xfrm>
          <a:prstGeom prst="rect">
            <a:avLst/>
          </a:prstGeom>
          <a:solidFill>
            <a:srgbClr val="0A1A0F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149840" y="2752344"/>
            <a:ext cx="850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65760" y="2752344"/>
            <a:ext cx="54864" cy="512064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5760" y="3255264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3255264"/>
            <a:ext cx="3657600" cy="54864"/>
          </a:xfrm>
          <a:prstGeom prst="rect">
            <a:avLst/>
          </a:prstGeom>
          <a:solidFill>
            <a:srgbClr val="7070A0"/>
          </a:solidFill>
          <a:ln w="12700">
            <a:solidFill>
              <a:srgbClr val="7070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33924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Ollama 3B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02920" y="3749040"/>
            <a:ext cx="1371600" cy="237744"/>
          </a:xfrm>
          <a:prstGeom prst="roundRect">
            <a:avLst>
              <a:gd name="adj" fmla="val 69231"/>
            </a:avLst>
          </a:prstGeom>
          <a:solidFill>
            <a:srgbClr val="7070A0">
              <a:alpha val="20000"/>
            </a:srgbClr>
          </a:solidFill>
          <a:ln w="12700">
            <a:solidFill>
              <a:srgbClr val="7070A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37490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· Free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02920" y="405993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Runs fully offline, no API keys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2920" y="432511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Weakest reranking quality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02920" y="459028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EM near baseline (0.650)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02920" y="485546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Good for private/air-gapped use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261104" y="3255264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61104" y="3255264"/>
            <a:ext cx="36576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98264" y="33924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 Groq 8B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398264" y="3749040"/>
            <a:ext cx="1371600" cy="237744"/>
          </a:xfrm>
          <a:prstGeom prst="roundRect">
            <a:avLst>
              <a:gd name="adj" fmla="val 69231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43984" y="37490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cloud tier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398264" y="405993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Strong reranker, good F1 scores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398264" y="432511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Best faithfulness: 0.574 (Iterative)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398264" y="459028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Rate-limited: 30 RPM → 3.5 hr run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398264" y="485546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Free but slow at scale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8156448" y="3255264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156448" y="3255264"/>
            <a:ext cx="365760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93608" y="33924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 Claude Haiku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8293608" y="3749040"/>
            <a:ext cx="1371600" cy="237744"/>
          </a:xfrm>
          <a:prstGeom prst="roundRect">
            <a:avLst>
              <a:gd name="adj" fmla="val 69231"/>
            </a:avLst>
          </a:prstGeom>
          <a:solidFill>
            <a:srgbClr val="CE93D8">
              <a:alpha val="20000"/>
            </a:srgbClr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39328" y="37490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API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293608" y="405993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Highest answer quality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293608" y="432511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0.800 EM — best overall result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8293608" y="459028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0% hallucination (rule-based)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293608" y="485546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Fast, accurate, consistent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numbers tell 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04672"/>
            <a:ext cx="54864" cy="21945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969264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dominates failure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048256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 of wrong answers occur because the right documents were never retrieved — not hallucination. Invest in retrieval first.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804672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804672"/>
            <a:ext cx="54864" cy="219456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969264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27648" y="17373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reranker = highest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2048256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a high-quality LLM reranker (Haiku) was the single biggest gain — EM from 0.595 → 0.800. One component, biggest jump.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63824"/>
            <a:ext cx="54864" cy="2194560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28416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64%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66928" y="40965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generation hurts 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4407408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debate generation dropped EM from 0.80 → 0.22. LLMs paraphrase correct answers in ways that break exact match. Rule-based wins for factoid QA.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3163824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163824"/>
            <a:ext cx="54864" cy="219456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3328416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96.5%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327648" y="40965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Misinformation suppressed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4407408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MADAM-RAG label-weighted voting actively blocks adversarial documents on RAMDocs. Not observed — actively suppressed.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8"/>
          </a:solidFill>
          <a:ln w="12700">
            <a:solidFill>
              <a:srgbClr val="08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1020">
              <a:alpha val="50000"/>
            </a:srgbClr>
          </a:solidFill>
          <a:ln w="12700">
            <a:solidFill>
              <a:srgbClr val="0A10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1457432" cy="2743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28016" cy="12801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3385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RAG pipeline combining 5 research papers into one unified, runnable 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128016" cy="128016"/>
          </a:xfrm>
          <a:prstGeom prst="ellipse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6420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retrieval methods, LLM reranker, multi-agent debate with misinformation suppression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49424"/>
            <a:ext cx="128016" cy="128016"/>
          </a:xfrm>
          <a:prstGeom prst="ellipse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9456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Faithfulness checking with deterministic fallback — graceful degradation at every step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128016" cy="128016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2491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Benchmarked across 400 queries, 3 LLM backends, full failure-mode taxonomy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749808"/>
            <a:ext cx="18288" cy="347472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7498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Proved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1170432"/>
            <a:ext cx="5486400" cy="603504"/>
          </a:xfrm>
          <a:prstGeom prst="roundRect">
            <a:avLst>
              <a:gd name="adj" fmla="val 1515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170432"/>
            <a:ext cx="54864" cy="603504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2344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F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0.800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55280" y="12344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HotpotQA — competitive with published baselines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883664"/>
            <a:ext cx="5486400" cy="603504"/>
          </a:xfrm>
          <a:prstGeom prst="roundRect">
            <a:avLst>
              <a:gd name="adj" fmla="val 1515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883664"/>
            <a:ext cx="54864" cy="60350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9476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E9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96.5%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55280" y="19476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misinformation suppression on adversarial RAMDocs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596896"/>
            <a:ext cx="5486400" cy="603504"/>
          </a:xfrm>
          <a:prstGeom prst="roundRect">
            <a:avLst>
              <a:gd name="adj" fmla="val 1515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596896"/>
            <a:ext cx="54864" cy="60350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66090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55280" y="266090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: generation failure ratio — fix retrieval first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310128"/>
            <a:ext cx="5486400" cy="603504"/>
          </a:xfrm>
          <a:prstGeom prst="roundRect">
            <a:avLst>
              <a:gd name="adj" fmla="val 15152"/>
            </a:avLst>
          </a:prstGeom>
          <a:solidFill>
            <a:srgbClr val="0F0F28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310128"/>
            <a:ext cx="54864" cy="6035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37413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55280" y="337413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uniquely solves multi-hop retrieval via bridge-entity chaining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742432"/>
            <a:ext cx="12188952" cy="1115568"/>
          </a:xfrm>
          <a:prstGeom prst="rect">
            <a:avLst/>
          </a:prstGeom>
          <a:solidFill>
            <a:srgbClr val="0A0A20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5806440"/>
            <a:ext cx="24377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0" y="6236208"/>
            <a:ext cx="2437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Papers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28646" y="5815584"/>
            <a:ext cx="18288" cy="65836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37790" y="5806440"/>
            <a:ext cx="24377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437790" y="6236208"/>
            <a:ext cx="2437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Steps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66437" y="5815584"/>
            <a:ext cx="18288" cy="65836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5581" y="5806440"/>
            <a:ext cx="24377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400+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875581" y="6236208"/>
            <a:ext cx="2437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Queries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04227" y="5815584"/>
            <a:ext cx="18288" cy="65836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3371" y="5806440"/>
            <a:ext cx="24377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313371" y="6236208"/>
            <a:ext cx="2437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Backends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742018" y="5815584"/>
            <a:ext cx="18288" cy="658368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51162" y="5806440"/>
            <a:ext cx="24377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0.800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751162" y="6236208"/>
            <a:ext cx="2437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Result 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2026-04-27T00:40:11Z</dcterms:created>
  <dcterms:modified xsi:type="dcterms:W3CDTF">2026-04-27T00:40:11Z</dcterms:modified>
</cp:coreProperties>
</file>